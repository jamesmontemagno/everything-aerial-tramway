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1695" cy="411480"/>
          </a:xfrm>
          <a:prstGeom prst="rect">
            <a:avLst/>
          </a:prstGeom>
          <a:solidFill>
            <a:srgbClr val="E3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98480" cy="1371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Aerial Tramways: 400 Years of Going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9875520" cy="11887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0">
                <a:solidFill>
                  <a:srgbClr val="F5EEDC"/>
                </a:solidFill>
                <a:latin typeface="Aptos"/>
              </a:rPr>
              <a:t>From 1644 engineering hacks to modern city icons - and why they still feel magical.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8046720" y="3657600"/>
            <a:ext cx="2011680" cy="2011680"/>
          </a:xfrm>
          <a:prstGeom prst="triangle">
            <a:avLst/>
          </a:prstGeom>
          <a:solidFill>
            <a:srgbClr val="76B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9144000" y="3977639"/>
            <a:ext cx="2377440" cy="1737360"/>
          </a:xfrm>
          <a:prstGeom prst="triangle">
            <a:avLst/>
          </a:prstGeom>
          <a:solidFill>
            <a:srgbClr val="25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886200"/>
            <a:ext cx="896112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0" y="3703320"/>
            <a:ext cx="1097280" cy="640080"/>
          </a:xfrm>
          <a:prstGeom prst="roundRect">
            <a:avLst/>
          </a:prstGeom>
          <a:solidFill>
            <a:srgbClr val="E3A8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77724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F5EEDC"/>
                </a:solidFill>
                <a:latin typeface="Aptos"/>
              </a:rPr>
              <a:t>A fun, insightful history for a Central Oregon audience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E3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8755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Why tramways are fun even before the history lesson 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5120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They solve a very human problem in a dramatic way: 'How do we get over that?'</a:t>
            </a:r>
          </a:p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They mix utility with delight - transportation, viewpoint, and story all in one.</a:t>
            </a:r>
          </a:p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Unlike most infrastructure, they give riders a sense of reveal: you rise, you glide, you see the landscape differently.</a:t>
            </a:r>
          </a:p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That is part of why people remember them long after the ride is 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05840"/>
            <a:ext cx="3108960" cy="3931920"/>
          </a:xfrm>
          <a:prstGeom prst="roundRect">
            <a:avLst/>
          </a:prstGeom>
          <a:solidFill>
            <a:srgbClr val="F5EEDC"/>
          </a:solidFill>
          <a:ln>
            <a:solidFill>
              <a:srgbClr val="E3A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188720"/>
            <a:ext cx="27432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E3A857"/>
                </a:solidFill>
                <a:latin typeface="Aptos"/>
              </a:rPr>
              <a:t>Fun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45920"/>
            <a:ext cx="2651760" cy="2926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2B2F36"/>
                </a:solidFill>
                <a:latin typeface="Aptos"/>
              </a:rPr>
              <a:t>A tramway is one of the few transport systems that can feel like public infrastructure and a field trip at the same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2B2F36"/>
                </a:solidFill>
                <a:latin typeface="Aptos"/>
              </a:rPr>
              <a:t>Sources: Wikipedia aerial tramway; City of Portland; Metro de Medellin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A85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What exactly is an aerial tramway?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>
                <a:solidFill>
                  <a:srgbClr val="A85239"/>
                </a:solidFill>
                <a:latin typeface="Aptos"/>
              </a:rPr>
              <a:t>Aerial tramway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4114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>
                <a:solidFill>
                  <a:srgbClr val="257B80"/>
                </a:solidFill>
                <a:latin typeface="Aptos"/>
              </a:rPr>
              <a:t>Gondola lift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663440" cy="4297680"/>
          </a:xfrm>
          <a:prstGeom prst="roundRect">
            <a:avLst/>
          </a:prstGeom>
          <a:solidFill>
            <a:srgbClr val="F5EEDC"/>
          </a:solidFill>
          <a:ln>
            <a:solidFill>
              <a:srgbClr val="A85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4663440" cy="4297680"/>
          </a:xfrm>
          <a:prstGeom prst="roundRect">
            <a:avLst/>
          </a:prstGeom>
          <a:solidFill>
            <a:srgbClr val="F7F9FC"/>
          </a:solidFill>
          <a:ln>
            <a:solidFill>
              <a:srgbClr val="257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114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Usually 1 or 2 big cabins</a:t>
            </a:r>
          </a:p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Shuttles back and forth</a:t>
            </a:r>
          </a:p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Great for steep climbs and dramatic spans</a:t>
            </a:r>
          </a:p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Feels more like a ride with a reveal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Many smaller cabins</a:t>
            </a:r>
          </a:p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Moves continuously around a loop</a:t>
            </a:r>
          </a:p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Better for steady throughput</a:t>
            </a:r>
          </a:p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Often used for ski areas and urban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42B4A"/>
                </a:solidFill>
                <a:latin typeface="Aptos"/>
              </a:rPr>
              <a:t>Why people mix them up: same cable family, different operating style.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2B2F36"/>
                </a:solidFill>
                <a:latin typeface="Aptos"/>
              </a:rPr>
              <a:t>Sources: Wikipedia aerial tramway; Metro de Medellin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5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The big timeline: from dirt-moving buckets to city icons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10058400" cy="508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3063240"/>
            <a:ext cx="274320" cy="27432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9144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E3A857"/>
                </a:solidFill>
                <a:latin typeface="Aptos"/>
              </a:rPr>
              <a:t>1644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645920" cy="1737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2B2F36"/>
                </a:solidFill>
                <a:latin typeface="Aptos"/>
              </a:rPr>
              <a:t>Adam Wybe builds a ropeway in Gdansk to move soil for fortifications.</a:t>
            </a:r>
          </a:p>
        </p:txBody>
      </p:sp>
      <p:sp>
        <p:nvSpPr>
          <p:cNvPr id="8" name="Oval 7"/>
          <p:cNvSpPr/>
          <p:nvPr/>
        </p:nvSpPr>
        <p:spPr>
          <a:xfrm>
            <a:off x="2560320" y="3063240"/>
            <a:ext cx="274320" cy="274320"/>
          </a:xfrm>
          <a:prstGeom prst="ellipse">
            <a:avLst/>
          </a:prstGeom>
          <a:solidFill>
            <a:srgbClr val="A85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468880"/>
            <a:ext cx="9144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A85239"/>
                </a:solidFill>
                <a:latin typeface="Aptos"/>
              </a:rPr>
              <a:t>1872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657600"/>
            <a:ext cx="1645920" cy="1737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2B2F36"/>
                </a:solidFill>
                <a:latin typeface="Aptos"/>
              </a:rPr>
              <a:t>Adolf Bleichert's bicable idea separates carrying and hauling ropes.</a:t>
            </a:r>
          </a:p>
        </p:txBody>
      </p:sp>
      <p:sp>
        <p:nvSpPr>
          <p:cNvPr id="11" name="Oval 10"/>
          <p:cNvSpPr/>
          <p:nvPr/>
        </p:nvSpPr>
        <p:spPr>
          <a:xfrm>
            <a:off x="4206240" y="3063240"/>
            <a:ext cx="274320" cy="274320"/>
          </a:xfrm>
          <a:prstGeom prst="ellipse">
            <a:avLst/>
          </a:prstGeom>
          <a:solidFill>
            <a:srgbClr val="76B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468880"/>
            <a:ext cx="9144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76B7CE"/>
                </a:solidFill>
                <a:latin typeface="Aptos"/>
              </a:rPr>
              <a:t>1907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657600"/>
            <a:ext cx="1645920" cy="1737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2B2F36"/>
                </a:solidFill>
                <a:latin typeface="Aptos"/>
              </a:rPr>
              <a:t>Monte Ulia opens in Spain as an early public passenger tramway.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3063240"/>
            <a:ext cx="274320" cy="274320"/>
          </a:xfrm>
          <a:prstGeom prst="ellipse">
            <a:avLst/>
          </a:prstGeom>
          <a:solidFill>
            <a:srgbClr val="4F8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468880"/>
            <a:ext cx="9144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4F8156"/>
                </a:solidFill>
                <a:latin typeface="Aptos"/>
              </a:rPr>
              <a:t>1908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657600"/>
            <a:ext cx="1645920" cy="1737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2B2F36"/>
                </a:solidFill>
                <a:latin typeface="Aptos"/>
              </a:rPr>
              <a:t>Kohlernbahn opens in Bozen as Central Europe's first passenger ropeway.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3063240"/>
            <a:ext cx="274320" cy="274320"/>
          </a:xfrm>
          <a:prstGeom prst="ellipse">
            <a:avLst/>
          </a:prstGeom>
          <a:solidFill>
            <a:srgbClr val="25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468880"/>
            <a:ext cx="9144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257B80"/>
                </a:solidFill>
                <a:latin typeface="Aptos"/>
              </a:rPr>
              <a:t>1976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657600"/>
            <a:ext cx="1645920" cy="1737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2B2F36"/>
                </a:solidFill>
                <a:latin typeface="Aptos"/>
              </a:rPr>
              <a:t>Roosevelt Island Tramway proves urban aerial tramways can work.</a:t>
            </a:r>
          </a:p>
        </p:txBody>
      </p:sp>
      <p:sp>
        <p:nvSpPr>
          <p:cNvPr id="20" name="Oval 19"/>
          <p:cNvSpPr/>
          <p:nvPr/>
        </p:nvSpPr>
        <p:spPr>
          <a:xfrm>
            <a:off x="9509760" y="3063240"/>
            <a:ext cx="274320" cy="274320"/>
          </a:xfrm>
          <a:prstGeom prst="ellipse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468880"/>
            <a:ext cx="9144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42B4A"/>
                </a:solidFill>
                <a:latin typeface="Aptos"/>
              </a:rPr>
              <a:t>2004-07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657600"/>
            <a:ext cx="1645920" cy="1737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2B2F36"/>
                </a:solidFill>
                <a:latin typeface="Aptos"/>
              </a:rPr>
              <a:t>Medellin and Portland bring cable transit back into public conversation.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2B2F36"/>
                </a:solidFill>
                <a:latin typeface="Aptos"/>
              </a:rPr>
              <a:t>Sources: GAMEO; Hoist; Museo Torres Quevedo; LEITNER; Wikipedia; Metro de Medellin; City of Portland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A85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8755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Before they carried people, they carried problems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5120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Adam Wybe's 1644 ropeway in Gdansk moved soil for city fortifications using suspended buckets.</a:t>
            </a:r>
          </a:p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In the industrial era, ropeways became serious logistics tools for mines, quarries, and rugged mountain sites.</a:t>
            </a:r>
          </a:p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Adolf Bleichert's 1872 bicable breakthrough made long, heavy-duty ropeways far more practical.</a:t>
            </a:r>
          </a:p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At places like Kennecott in Alaska, tramways were part of the mine itself - the link from mountain to mill.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05840"/>
            <a:ext cx="3108960" cy="3931920"/>
          </a:xfrm>
          <a:prstGeom prst="roundRect">
            <a:avLst/>
          </a:prstGeom>
          <a:solidFill>
            <a:srgbClr val="F5EEDC"/>
          </a:solidFill>
          <a:ln>
            <a:solidFill>
              <a:srgbClr val="A85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188720"/>
            <a:ext cx="27432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A85239"/>
                </a:solidFill>
                <a:latin typeface="Aptos"/>
              </a:rPr>
              <a:t>Fun 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45920"/>
            <a:ext cx="2651760" cy="2926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2B2F36"/>
                </a:solidFill>
                <a:latin typeface="Aptos"/>
              </a:rPr>
              <a:t>The early story is less 'tourist attraction' and more 'How else would you move ore off a mountain without building a small railroad in the sky?'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2B2F36"/>
                </a:solidFill>
                <a:latin typeface="Aptos"/>
              </a:rPr>
              <a:t>Sources: GAMEO; Hoist; NPS Kennecott; vonbleichert.eu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6B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8755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The passenger era: once safety and scenery teamed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5120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In 1907, Leonardo Torres Quevedo's Monte Ulia system showed public passenger tramways could be both exciting and engineered for safety.</a:t>
            </a:r>
          </a:p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His design used multiple track cables so one cable failure would not mean catastrophe.</a:t>
            </a:r>
          </a:p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By 1908, Central Europe had the Kohlernbahn, and ropeways were moving from freight utility into public experience.</a:t>
            </a:r>
          </a:p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Soon the same cable family expanded into gondolas, ski tows, and chairlifts.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05840"/>
            <a:ext cx="3108960" cy="3931920"/>
          </a:xfrm>
          <a:prstGeom prst="roundRect">
            <a:avLst/>
          </a:prstGeom>
          <a:solidFill>
            <a:srgbClr val="F5EEDC"/>
          </a:solidFill>
          <a:ln>
            <a:solidFill>
              <a:srgbClr val="76B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188720"/>
            <a:ext cx="27432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76B7CE"/>
                </a:solidFill>
                <a:latin typeface="Aptos"/>
              </a:rPr>
              <a:t>Big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45920"/>
            <a:ext cx="2651760" cy="2926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2B2F36"/>
                </a:solidFill>
                <a:latin typeface="Aptos"/>
              </a:rPr>
              <a:t>The technology did not just become safer. It became something people wanted to ride on purpose.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2B2F36"/>
                </a:solidFill>
                <a:latin typeface="Aptos"/>
              </a:rPr>
              <a:t>Sources: Museo Torres Quevedo; LEITNER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5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8755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Urban comeback: not just for ski towns anymore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5120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Roosevelt Island's tramway opened in 1976 as a commuter link and proved aerial tramways could be real urban infrastructure.</a:t>
            </a:r>
          </a:p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Medellin's Line K opened in 2004 and helped reintroduce cable transit into the public imagination as part of a city network.</a:t>
            </a:r>
          </a:p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Portland's Aerial Tram opened in 2007 and gave Oregon a high-profile example of a short, steep, practical cable connection.</a:t>
            </a:r>
          </a:p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Modern cable systems keep coming back when geography is awkward and right-of-way is tight.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05840"/>
            <a:ext cx="3108960" cy="3931920"/>
          </a:xfrm>
          <a:prstGeom prst="roundRect">
            <a:avLst/>
          </a:prstGeom>
          <a:solidFill>
            <a:srgbClr val="F5EEDC"/>
          </a:solidFill>
          <a:ln>
            <a:solidFill>
              <a:srgbClr val="257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188720"/>
            <a:ext cx="27432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257B80"/>
                </a:solidFill>
                <a:latin typeface="Aptos"/>
              </a:rPr>
              <a:t>Oregon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45920"/>
            <a:ext cx="2651760" cy="2926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2B2F36"/>
                </a:solidFill>
                <a:latin typeface="Aptos"/>
              </a:rPr>
              <a:t>Portland's tram is a great reminder that cable transit is not just alpine nostalgia - it is still a live transportation idea.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2B2F36"/>
                </a:solidFill>
                <a:latin typeface="Aptos"/>
              </a:rPr>
              <a:t>Sources: Wikipedia Roosevelt Island Tramway; Metro de Medellin; City of Portland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4F8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8755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Why this resonates in Central Oregon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5120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Central Oregon already understands terrain, elevation, winter recreation, and destination views.</a:t>
            </a:r>
          </a:p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That makes tramways easy to appreciate even when you are just talking history, not proposing a project.</a:t>
            </a:r>
          </a:p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They fit places where landscape is part of the experience, whether the goal is access, tourism, or simply the joy of a memorable ride.</a:t>
            </a:r>
          </a:p>
          <a:p>
            <a:pPr>
              <a:spcAft>
                <a:spcPts val="1000"/>
              </a:spcAft>
              <a:defRPr sz="2100">
                <a:solidFill>
                  <a:srgbClr val="2B2F36"/>
                </a:solidFill>
                <a:latin typeface="Aptos"/>
              </a:defRPr>
            </a:pPr>
            <a:r>
              <a:t>In short: tramways make topography part of the story instead of just an obstacle.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05840"/>
            <a:ext cx="3108960" cy="3931920"/>
          </a:xfrm>
          <a:prstGeom prst="roundRect">
            <a:avLst/>
          </a:prstGeom>
          <a:solidFill>
            <a:srgbClr val="F5EEDC"/>
          </a:solidFill>
          <a:ln>
            <a:solidFill>
              <a:srgbClr val="4F8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188720"/>
            <a:ext cx="27432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4F8156"/>
                </a:solidFill>
                <a:latin typeface="Aptos"/>
              </a:rPr>
              <a:t>Presenter tip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45920"/>
            <a:ext cx="2651760" cy="2926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2B2F36"/>
                </a:solidFill>
                <a:latin typeface="Aptos"/>
              </a:rPr>
              <a:t>For this audience, lean into the blend of mountain culture, engineering ingenuity, and scenic payoff.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2B2F36"/>
                </a:solidFill>
                <a:latin typeface="Aptos"/>
              </a:rPr>
              <a:t>Sources: City of Portland; LEITNER; Wikipedia aerial tramway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Five things to remember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554480"/>
            <a:ext cx="411480" cy="41148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4984" y="1572768"/>
            <a:ext cx="2286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42B4A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536192"/>
            <a:ext cx="93268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0">
                <a:solidFill>
                  <a:srgbClr val="F5EEDC"/>
                </a:solidFill>
                <a:latin typeface="Aptos"/>
              </a:rPr>
              <a:t>Tramways are old - older than railroads in their recognizable form.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441448"/>
            <a:ext cx="2286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42B4A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04872"/>
            <a:ext cx="93268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0">
                <a:solidFill>
                  <a:srgbClr val="F5EEDC"/>
                </a:solidFill>
                <a:latin typeface="Aptos"/>
              </a:rPr>
              <a:t>They first solved ugly logistics problems: cliffs, ravines, rivers, mines.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291839"/>
            <a:ext cx="411480" cy="41148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3310127"/>
            <a:ext cx="2286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42B4A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73551"/>
            <a:ext cx="93268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0">
                <a:solidFill>
                  <a:srgbClr val="F5EEDC"/>
                </a:solidFill>
                <a:latin typeface="Aptos"/>
              </a:rPr>
              <a:t>Passenger adoption happened when safety engineering caught up.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60520"/>
            <a:ext cx="411480" cy="41148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4178807"/>
            <a:ext cx="2286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42B4A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142232"/>
            <a:ext cx="93268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0">
                <a:solidFill>
                  <a:srgbClr val="F5EEDC"/>
                </a:solidFill>
                <a:latin typeface="Aptos"/>
              </a:rPr>
              <a:t>They are part transit, part viewpoint, part civic identity.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029200"/>
            <a:ext cx="411480" cy="411480"/>
          </a:xfrm>
          <a:prstGeom prst="ellipse">
            <a:avLst/>
          </a:prstGeom>
          <a:solidFill>
            <a:srgbClr val="E3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" y="5047488"/>
            <a:ext cx="2286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42B4A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010912"/>
            <a:ext cx="93268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0">
                <a:solidFill>
                  <a:srgbClr val="F5EEDC"/>
                </a:solidFill>
                <a:latin typeface="Aptos"/>
              </a:rPr>
              <a:t>That mix of utility and delight is exactly why people still love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7220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If you remember one phrase: they turn hard geography into memorable experiences.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B2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Sources used in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GAMEO - Adam Wybe / Wiebe and the 1644 Gdansk ropeway</a:t>
            </a:r>
          </a:p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Hoist + vonbleichert.eu - Adolf Bleichert and bicable ropeway history</a:t>
            </a:r>
          </a:p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Museo Torres Quevedo - Monte Ulia and early passenger ropeways</a:t>
            </a:r>
          </a:p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LEITNER - ropeway evolution and early passenger milestones</a:t>
            </a:r>
          </a:p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U.S. National Park Service - Kennecott mining tramways</a:t>
            </a:r>
          </a:p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Wikipedia - aerial tramway and Roosevelt Island Tramway overview</a:t>
            </a:r>
          </a:p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Metro de Medellin - Line K opening and network expansion</a:t>
            </a:r>
          </a:p>
          <a:p>
            <a:pPr>
              <a:spcAft>
                <a:spcPts val="1200"/>
              </a:spcAft>
              <a:defRPr sz="2000">
                <a:solidFill>
                  <a:srgbClr val="2B2F36"/>
                </a:solidFill>
              </a:defRPr>
            </a:pPr>
            <a:r>
              <a:t>City of Portland - Portland Aerial Tram operations and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8076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42B4A"/>
                </a:solidFill>
                <a:latin typeface="Aptos"/>
              </a:rPr>
              <a:t>Research summary source file: AERIAL_TRAMWAYS_RESEARCH.md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