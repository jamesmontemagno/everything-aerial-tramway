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Why Invest in a World-Class Tramway Website?</a:t>
            </a:r>
          </a:p>
          <a:p>
            <a:r>
              <a:rPr sz="1100">
                <a:solidFill>
                  <a:srgbClr val="BECDDC"/>
                </a:solidFill>
                <a:latin typeface="Aptos"/>
              </a:rPr>
              <a:t>A coalition vision for tourism, discovery, and global tramway storytelling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6400800" cy="12344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>
                <a:solidFill>
                  <a:srgbClr val="FFFFFF"/>
                </a:solidFill>
                <a:latin typeface="Aptos"/>
              </a:rPr>
              <a:t>Build the definitive digital home for tramways worldwide: beautiful, useful, and coalition-powered.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00400"/>
            <a:ext cx="5212080" cy="731520"/>
          </a:xfrm>
          <a:prstGeom prst="roundRect">
            <a:avLst/>
          </a:prstGeom>
          <a:solidFill>
            <a:srgbClr val="13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Tourism + engineering wonder + trusted trip planning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069080"/>
            <a:ext cx="7498079" cy="914400"/>
          </a:xfrm>
          <a:prstGeom prst="roundRect">
            <a:avLst/>
          </a:prstGeom>
          <a:solidFill>
            <a:srgbClr val="19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Outcome: category leadership, stronger operator visibility, and a premium visitor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E3C"/>
                </a:solidFill>
                <a:latin typeface="Aptos Display"/>
              </a:rPr>
              <a:t>The Opportunity</a:t>
            </a:r>
          </a:p>
          <a:p>
            <a:r>
              <a:rPr sz="1100">
                <a:solidFill>
                  <a:srgbClr val="212529"/>
                </a:solidFill>
                <a:latin typeface="Aptos"/>
              </a:rPr>
              <a:t>Tramways sit at the intersection of tourism, infrastructure, and visual storytelling.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212529"/>
                </a:solidFill>
                <a:latin typeface="Aptos"/>
              </a:rPr>
              <a:t>Tramways are inherently photogenic, memorable, and globally diverse.</a:t>
            </a:r>
          </a:p>
          <a:p>
            <a:r>
              <a:rPr sz="2000">
                <a:solidFill>
                  <a:srgbClr val="212529"/>
                </a:solidFill>
                <a:latin typeface="Aptos"/>
              </a:rPr>
              <a:t>Visitors need more than static facts; they need trusted planning information.</a:t>
            </a:r>
          </a:p>
          <a:p>
            <a:r>
              <a:rPr sz="2000">
                <a:solidFill>
                  <a:srgbClr val="212529"/>
                </a:solidFill>
                <a:latin typeface="Aptos"/>
              </a:rPr>
              <a:t>Operators often have fragmented digital experiences and inconsistent storytelling.</a:t>
            </a:r>
          </a:p>
          <a:p>
            <a:r>
              <a:rPr sz="2000">
                <a:solidFill>
                  <a:srgbClr val="212529"/>
                </a:solidFill>
                <a:latin typeface="Aptos"/>
              </a:rPr>
              <a:t>A coalition site can elevate the whole category, not just a single destination.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828800"/>
            <a:ext cx="429768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The category is stronger when discovered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Why Beautiful Design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  <a:latin typeface="Aptos"/>
              </a:rPr>
              <a:t>Beauty increases trust, desirability, and sharing.</a:t>
            </a:r>
          </a:p>
          <a:p>
            <a:r>
              <a:rPr sz="2000">
                <a:solidFill>
                  <a:srgbClr val="FFFFFF"/>
                </a:solidFill>
                <a:latin typeface="Aptos"/>
              </a:rPr>
              <a:t>The site should feel like premium travel media, not a dry database.</a:t>
            </a:r>
          </a:p>
          <a:p>
            <a:r>
              <a:rPr sz="2000">
                <a:solidFill>
                  <a:srgbClr val="FFFFFF"/>
                </a:solidFill>
                <a:latin typeface="Aptos"/>
              </a:rPr>
              <a:t>Cinematic visuals help users imagine the experience before they buy.</a:t>
            </a:r>
          </a:p>
          <a:p>
            <a:r>
              <a:rPr sz="2000">
                <a:solidFill>
                  <a:srgbClr val="FFFFFF"/>
                </a:solidFill>
                <a:latin typeface="Aptos"/>
              </a:rPr>
              <a:t>Great design creates coalition pride and premium brand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2011680"/>
            <a:ext cx="4389120" cy="13716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12529"/>
                </a:solidFill>
                <a:latin typeface="Aptos"/>
              </a:rPr>
              <a:t>Desired feel: luxury travel x engineering wonder x trusted visitor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E3C"/>
                </a:solidFill>
                <a:latin typeface="Aptos Display"/>
              </a:rPr>
              <a:t>What We Should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212529"/>
                </a:solidFill>
                <a:latin typeface="Aptos"/>
              </a:rPr>
              <a:t>A global tramway discovery homepage with striking imagery and curated collections.</a:t>
            </a:r>
          </a:p>
          <a:p>
            <a:r>
              <a:rPr sz="2000">
                <a:solidFill>
                  <a:srgbClr val="212529"/>
                </a:solidFill>
                <a:latin typeface="Aptos"/>
              </a:rPr>
              <a:t>Destination pages with hours, fares, accessibility, booking links, and weather context.</a:t>
            </a:r>
          </a:p>
          <a:p>
            <a:r>
              <a:rPr sz="2000">
                <a:solidFill>
                  <a:srgbClr val="212529"/>
                </a:solidFill>
                <a:latin typeface="Aptos"/>
              </a:rPr>
              <a:t>Comparison tools, editorial story cards, and fun facts.</a:t>
            </a:r>
          </a:p>
          <a:p>
            <a:r>
              <a:rPr sz="2000">
                <a:solidFill>
                  <a:srgbClr val="212529"/>
                </a:solidFill>
                <a:latin typeface="Aptos"/>
              </a:rPr>
              <a:t>Coalition member pages and partner promotion surfaces.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2011680"/>
            <a:ext cx="4389120" cy="1188720"/>
          </a:xfrm>
          <a:prstGeom prst="roundRect">
            <a:avLst/>
          </a:prstGeom>
          <a:solidFill>
            <a:srgbClr val="13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>
                <a:solidFill>
                  <a:srgbClr val="FFFFFF"/>
                </a:solidFill>
                <a:latin typeface="Aptos"/>
              </a:rPr>
              <a:t>Think: the definitive world guide to tramways, not just a directory.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Coalition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FFFFFF"/>
                </a:solidFill>
                <a:latin typeface="Aptos"/>
              </a:rPr>
              <a:t>Shared category marketing and destination discovery</a:t>
            </a:r>
          </a:p>
          <a:p>
            <a:r>
              <a:rPr sz="1900">
                <a:solidFill>
                  <a:srgbClr val="FFFFFF"/>
                </a:solidFill>
                <a:latin typeface="Aptos"/>
              </a:rPr>
              <a:t>Featured collections and seasonal campaigns</a:t>
            </a:r>
          </a:p>
          <a:p>
            <a:r>
              <a:rPr sz="1900">
                <a:solidFill>
                  <a:srgbClr val="FFFFFF"/>
                </a:solidFill>
                <a:latin typeface="Aptos"/>
              </a:rPr>
              <a:t>Standardized high-quality operator pages</a:t>
            </a:r>
          </a:p>
          <a:p>
            <a:r>
              <a:rPr sz="1900">
                <a:solidFill>
                  <a:srgbClr val="FFFFFF"/>
                </a:solidFill>
                <a:latin typeface="Aptos"/>
              </a:rPr>
              <a:t>Accessibility and information templates</a:t>
            </a:r>
          </a:p>
          <a:p>
            <a:r>
              <a:rPr sz="1900">
                <a:solidFill>
                  <a:srgbClr val="FFFFFF"/>
                </a:solidFill>
                <a:latin typeface="Aptos"/>
              </a:rPr>
              <a:t>Potential sponsor and membership tiers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2011680"/>
            <a:ext cx="429768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>
                <a:solidFill>
                  <a:srgbClr val="FFFFFF"/>
                </a:solidFill>
                <a:latin typeface="Aptos"/>
              </a:rPr>
              <a:t>The coalition becomes the trusted public face of the category.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E3C"/>
                </a:solidFill>
                <a:latin typeface="Aptos Display"/>
              </a:rPr>
              <a:t>Why Invest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212529"/>
                </a:solidFill>
                <a:latin typeface="Aptos"/>
              </a:rPr>
              <a:t>Tramways already have strong visual and experiential appeal.</a:t>
            </a:r>
          </a:p>
          <a:p>
            <a:r>
              <a:rPr sz="2000">
                <a:solidFill>
                  <a:srgbClr val="212529"/>
                </a:solidFill>
                <a:latin typeface="Aptos"/>
              </a:rPr>
              <a:t>Tourists increasingly expect live, mobile-friendly planning information.</a:t>
            </a:r>
          </a:p>
          <a:p>
            <a:r>
              <a:rPr sz="2000">
                <a:solidFill>
                  <a:srgbClr val="212529"/>
                </a:solidFill>
                <a:latin typeface="Aptos"/>
              </a:rPr>
              <a:t>Many operators still under-serve the digital storytelling opportunity.</a:t>
            </a:r>
          </a:p>
          <a:p>
            <a:r>
              <a:rPr sz="2000">
                <a:solidFill>
                  <a:srgbClr val="212529"/>
                </a:solidFill>
                <a:latin typeface="Aptos"/>
              </a:rPr>
              <a:t>A first-class coalition site can own search intent in this niche.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2194560"/>
            <a:ext cx="4114800" cy="9144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12529"/>
                </a:solidFill>
                <a:latin typeface="Aptos"/>
              </a:rPr>
              <a:t>This is a category-brand play with real visitor utility.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Phased Rollout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0149840" cy="713232"/>
          </a:xfrm>
          <a:prstGeom prst="roundRect">
            <a:avLst/>
          </a:prstGeom>
          <a:solidFill>
            <a:srgbClr val="19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1. Launch a beautiful discovery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149840" cy="713232"/>
          </a:xfrm>
          <a:prstGeom prst="roundRect">
            <a:avLst/>
          </a:prstGeom>
          <a:solidFill>
            <a:srgbClr val="13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2. Add live status, fares, and operator-backed utility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566160"/>
            <a:ext cx="10149840" cy="713232"/>
          </a:xfrm>
          <a:prstGeom prst="roundRect">
            <a:avLst/>
          </a:prstGeom>
          <a:solidFill>
            <a:srgbClr val="195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3. Introduce coalition membership and featured campaigns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72000"/>
            <a:ext cx="10149840" cy="713232"/>
          </a:xfrm>
          <a:prstGeom prst="roundRect">
            <a:avLst/>
          </a:prstGeom>
          <a:solidFill>
            <a:srgbClr val="13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4. Expand into personalization, multilingual support, and operator 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Recommendation</a:t>
            </a:r>
          </a:p>
          <a:p>
            <a:r>
              <a:rPr sz="1100">
                <a:solidFill>
                  <a:srgbClr val="BECDDC"/>
                </a:solidFill>
                <a:latin typeface="Aptos"/>
              </a:rPr>
              <a:t>Invest in a premium tramway coalition website built for discovery, planning, and long-term category leadership.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058400" cy="128016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>
                <a:solidFill>
                  <a:srgbClr val="212529"/>
                </a:solidFill>
                <a:latin typeface="Aptos"/>
              </a:rPr>
              <a:t>Start with a best-in-class website. Grow into the global home for tramways.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749039"/>
            <a:ext cx="8778240" cy="868680"/>
          </a:xfrm>
          <a:prstGeom prst="roundRect">
            <a:avLst/>
          </a:prstGeom>
          <a:solidFill>
            <a:srgbClr val="124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Immediate next step: approve concept design, content architecture, and MVP scope.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