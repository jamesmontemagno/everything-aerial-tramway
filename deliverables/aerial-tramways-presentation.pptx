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685800"/>
            <a:ext cx="5394960" cy="164592"/>
          </a:xfrm>
          <a:prstGeom prst="roundRect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2849880" cy="523220"/>
          </a:xfrm>
          <a:prstGeom prst="rect">
            <a:avLst/>
          </a:prstGeom>
          <a:solidFill>
            <a:srgbClr val="F4BA4A"/>
          </a:solidFill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5F8FC"/>
                </a:solidFill>
                <a:latin typeface="Aptos Display"/>
              </a:rPr>
              <a:t>Aerial Tramways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66220"/>
            <a:ext cx="4356947" cy="923330"/>
          </a:xfrm>
          <a:prstGeom prst="rect">
            <a:avLst/>
          </a:prstGeom>
          <a:solidFill>
            <a:srgbClr val="F4BA4A"/>
          </a:solidFill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F5F8FC"/>
                </a:solidFill>
                <a:latin typeface="Aptos"/>
              </a:rPr>
              <a:t>History, standout systems, fun facts, and what matters if you want to build a world-class tramway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9893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E7DD"/>
                </a:solidFill>
                <a:latin typeface="Aptos"/>
              </a:rPr>
              <a:t>Prepared from a dedicated research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 Display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8FC"/>
                </a:solidFill>
                <a:latin typeface="Aptos"/>
              </a:defRPr>
            </a:pPr>
            <a:r>
              <a:t>Aerial tramways are reversible ropeways with large cabins moving between terminals.</a:t>
            </a:r>
          </a:p>
          <a:p>
            <a:pPr>
              <a:defRPr sz="1800">
                <a:solidFill>
                  <a:srgbClr val="F5F8FC"/>
                </a:solidFill>
                <a:latin typeface="Aptos"/>
              </a:defRPr>
            </a:pPr>
            <a:r>
              <a:t>They are distinct from gondolas and funiculars, but users often search all of them under 'cable car'.</a:t>
            </a:r>
          </a:p>
          <a:p>
            <a:pPr>
              <a:defRPr sz="1800">
                <a:solidFill>
                  <a:srgbClr val="F5F8FC"/>
                </a:solidFill>
                <a:latin typeface="Aptos"/>
              </a:defRPr>
            </a:pPr>
            <a:r>
              <a:t>A great app needs both rigorous taxonomy and traveler-friendly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03320"/>
            <a:ext cx="21945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381304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B5C4"/>
                </a:solidFill>
                <a:latin typeface="Aptos Display"/>
              </a:rPr>
              <a:t>Why users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178808"/>
            <a:ext cx="192024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Views, engineering, iconic city or mountain access, and practical trip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3703320"/>
            <a:ext cx="21945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381304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A4A"/>
                </a:solidFill>
                <a:latin typeface="Aptos Display"/>
              </a:rPr>
              <a:t>Best product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4178808"/>
            <a:ext cx="192024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Part field guide, part live operations tool, part beautifully structured catalog.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3703320"/>
            <a:ext cx="21945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88152" y="381304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E7DD"/>
                </a:solidFill>
                <a:latin typeface="Aptos Display"/>
              </a:rPr>
              <a:t>Biggest pitfall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4178808"/>
            <a:ext cx="192024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Treating every cable car as the same transport mode.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 Display"/>
              </a:rPr>
              <a:t>The taxonomy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5204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34416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A4A"/>
                </a:solidFill>
                <a:latin typeface="Aptos Display"/>
              </a:rPr>
              <a:t>Aerial tramway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09928"/>
            <a:ext cx="324612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Large cabins shuttle back and forth on fixed support cables. Lower frequency, higher spectacle, strong landmark identity.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204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07992" y="134416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B5C4"/>
                </a:solidFill>
                <a:latin typeface="Aptos Display"/>
              </a:rPr>
              <a:t>Gondola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709928"/>
            <a:ext cx="324612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Small cabins circulate continuously. Better for networks and high-throughput urban or resort movement.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234440"/>
            <a:ext cx="35204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65592" y="134416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E7DD"/>
                </a:solidFill>
                <a:latin typeface="Aptos Display"/>
              </a:rPr>
              <a:t>Funicular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709928"/>
            <a:ext cx="324612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Rail-based cars on a steep slope. Same cable family in user language, but a separate transport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 Display"/>
              </a:rPr>
              <a:t>A short visual history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68680" y="3291840"/>
            <a:ext cx="10195560" cy="0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240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1644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11880"/>
            <a:ext cx="1143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Early operating cableway
example in Gdansk</a:t>
            </a:r>
          </a:p>
        </p:txBody>
      </p:sp>
      <p:sp>
        <p:nvSpPr>
          <p:cNvPr id="7" name="Oval 6"/>
          <p:cNvSpPr/>
          <p:nvPr/>
        </p:nvSpPr>
        <p:spPr>
          <a:xfrm>
            <a:off x="2377440" y="2971800"/>
            <a:ext cx="457200" cy="457200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04288" y="2240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1908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611880"/>
            <a:ext cx="1143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Wetterhorn Elevator
modern passenger pioneer</a:t>
            </a:r>
          </a:p>
        </p:txBody>
      </p:sp>
      <p:sp>
        <p:nvSpPr>
          <p:cNvPr id="10" name="Oval 9"/>
          <p:cNvSpPr/>
          <p:nvPr/>
        </p:nvSpPr>
        <p:spPr>
          <a:xfrm>
            <a:off x="3840480" y="2971800"/>
            <a:ext cx="457200" cy="457200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2240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1912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611880"/>
            <a:ext cx="1143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Sugarloaf opens
in Rio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2971800"/>
            <a:ext cx="457200" cy="457200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0368" y="2240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1929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611880"/>
            <a:ext cx="1143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Table Mountain
opens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971800"/>
            <a:ext cx="457200" cy="457200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4848" y="2240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1955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611880"/>
            <a:ext cx="1143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Aiguille du Midi
sets alpine benchmark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2971800"/>
            <a:ext cx="457200" cy="457200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7" y="2240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1963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611880"/>
            <a:ext cx="1143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Palm Springs
opens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0" y="2971800"/>
            <a:ext cx="457200" cy="457200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85248" y="2240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1976+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611880"/>
            <a:ext cx="1143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Urban tramways
scale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 Display"/>
              </a:rPr>
              <a:t>Iconic scenic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148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3898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A4A"/>
                </a:solidFill>
                <a:latin typeface="Aptos Display"/>
              </a:rPr>
              <a:t>Palm 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1874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Desert-to-alpine ride, helicopter-built towers, rotating cars.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280160"/>
            <a:ext cx="2148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19272" y="13898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A4A"/>
                </a:solidFill>
                <a:latin typeface="Aptos Display"/>
              </a:rPr>
              <a:t>Sugarloaf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1755648"/>
            <a:ext cx="1874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1912 classic, cinematic city views, multi-stage ride.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280160"/>
            <a:ext cx="2148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42432" y="13898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B5C4"/>
                </a:solidFill>
                <a:latin typeface="Aptos Display"/>
              </a:rPr>
              <a:t>Table Mountain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1755648"/>
            <a:ext cx="1874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Cape Town symbol with rotating cabins and huge tourism pull.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280160"/>
            <a:ext cx="2148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13898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B5C4"/>
                </a:solidFill>
                <a:latin typeface="Aptos Display"/>
              </a:rPr>
              <a:t>Aiguille du Midi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1755648"/>
            <a:ext cx="1874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High-altitude alpine benchmark with serious weather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 Display"/>
              </a:rPr>
              <a:t>Urban systems are different products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3441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B5C4"/>
                </a:solidFill>
                <a:latin typeface="Aptos Display"/>
              </a:rPr>
              <a:t>Roosevelt Island + Portland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709928"/>
            <a:ext cx="3200400" cy="3913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Both show how tramways solve steep-terrain or water-crossing mobility problems. The product emphasis shifts toward fare integration, reliability, accessibility, and multimodal connections.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23444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3441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A4A"/>
                </a:solidFill>
                <a:latin typeface="Aptos Display"/>
              </a:rPr>
              <a:t>Yangtze River Cableway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09928"/>
            <a:ext cx="3200400" cy="3913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A working city crossing that also became a cultural icon. These hybrids blur the line between transit utility and destination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234440"/>
            <a:ext cx="34747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3441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E7DD"/>
                </a:solidFill>
                <a:latin typeface="Aptos Display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1709928"/>
            <a:ext cx="3200400" cy="3913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The app should distinguish scenic rides from commuter rides because the user questions, ranking logic, and success metrics are different.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 Display"/>
              </a:rPr>
              <a:t>Five memorable facts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1252728"/>
            <a:ext cx="384048" cy="384048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298448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A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34440"/>
            <a:ext cx="9692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Palm Springs used about 23,000 helicopter missions during construction.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21408"/>
            <a:ext cx="384048" cy="384048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67127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A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9692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Sugarloaf's early cabins were wooden and the line appeared in Moonraker.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990088"/>
            <a:ext cx="384048" cy="384048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035808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A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71800"/>
            <a:ext cx="9692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Table Mountain and Palm Springs both turn cabin rotation into part of the attraction.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58768"/>
            <a:ext cx="384048" cy="384048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904488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A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40480"/>
            <a:ext cx="9692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The Wetterhorn Elevator was so novel that licensing had to be improvised.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727448"/>
            <a:ext cx="384048" cy="384048"/>
          </a:xfrm>
          <a:prstGeom prst="ellipse">
            <a:avLst/>
          </a:prstGeom>
          <a:solidFill>
            <a:srgbClr val="F4BA4A"/>
          </a:solidFill>
          <a:ln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773168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A162A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09160"/>
            <a:ext cx="9692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Aiguille du Midi can feel alpine and dangerous even in summer.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c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 Display"/>
              </a:rPr>
              <a:t>What the app must do well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6517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4356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B5C4"/>
                </a:solidFill>
                <a:latin typeface="Aptos Display"/>
              </a:rPr>
              <a:t>Core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01368"/>
            <a:ext cx="237744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Type, operator, terminals, trip time, altitude, capacity, hours, prices, accessibility, weather sensitivity, live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325880"/>
            <a:ext cx="26517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76472" y="14356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A4A"/>
                </a:solidFill>
                <a:latin typeface="Aptos Display"/>
              </a:rPr>
              <a:t>User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801368"/>
            <a:ext cx="237744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Views, commute, family trip, history, engineering, hiking, iconic landmarks, weather-aware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25880"/>
            <a:ext cx="26517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43560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E7DD"/>
                </a:solidFill>
                <a:latin typeface="Aptos Display"/>
              </a:rPr>
              <a:t>Editorial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1801368"/>
            <a:ext cx="237744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Origin stories, fun facts, records, modernization cycles, and what makes each ride special.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32588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37192" y="143560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A4A"/>
                </a:solidFill>
                <a:latin typeface="Aptos Display"/>
              </a:rPr>
              <a:t>Watch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37192" y="1801368"/>
            <a:ext cx="1783080" cy="3822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Do not bury accessibility and weather. They are primary trip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 Display"/>
              </a:rPr>
              <a:t>Suggested information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371600"/>
            <a:ext cx="2926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1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24688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61F30"/>
                </a:solidFill>
                <a:latin typeface="Aptos"/>
              </a:rPr>
              <a:t>Browse by
- Place
- Type
- Intent
- Open now
- Landmark status
- Accessibility
- Weather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371600"/>
            <a:ext cx="34290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5112" y="148132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BA4A"/>
                </a:solidFill>
                <a:latin typeface="Aptos Display"/>
              </a:rPr>
              <a:t>Detail page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5112" y="1847088"/>
            <a:ext cx="3154680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Open now -&gt; ride snapshot -&gt; why it's famous -&gt; practical visit info -&gt; what is at the top -&gt; history + fun 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703320"/>
            <a:ext cx="34290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5112" y="381304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6FE7DD"/>
                </a:solidFill>
                <a:latin typeface="Aptos Display"/>
              </a:rPr>
              <a:t>Ranking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4178808"/>
            <a:ext cx="3154680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Use multiple list types such as best city views, best alpine ascent, best engineering story, or best family visit.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42900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B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9871" y="148132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B5C4"/>
                </a:solidFill>
                <a:latin typeface="Aptos Display"/>
              </a:rPr>
              <a:t>Search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1847088"/>
            <a:ext cx="3154680" cy="3776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1F30"/>
                </a:solidFill>
                <a:latin typeface="Aptos"/>
              </a:rPr>
              <a:t>Support broad terms like cable car or teleferico, but map them to clean internal taxonomy so results stay accurate and useful.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1907" y="3840480"/>
            <a:ext cx="6583680" cy="731520"/>
          </a:xfrm>
          <a:prstGeom prst="rect">
            <a:avLst/>
          </a:prstGeom>
          <a:solidFill>
            <a:srgbClr val="F4BA4A"/>
          </a:solidFill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F5F8FC"/>
                </a:solidFill>
                <a:latin typeface="Aptos Display"/>
              </a:rPr>
              <a:t>The best tramway app will feel like a live guide to remarkable vertical journeys.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051" y="4572000"/>
            <a:ext cx="6309360" cy="1371600"/>
          </a:xfrm>
          <a:prstGeom prst="rect">
            <a:avLst/>
          </a:prstGeom>
          <a:solidFill>
            <a:srgbClr val="F4BA4A"/>
          </a:solidFill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F5F8FC"/>
                </a:solidFill>
                <a:latin typeface="Aptos"/>
              </a:rPr>
              <a:t>It should combine precise system taxonomy, beautiful storytelling, and the practical details riders need the moment they decide to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8978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E7DD"/>
                </a:solidFill>
                <a:latin typeface="Aptos"/>
              </a:rPr>
              <a:t>Deliverables: full brief (.docx) and presentation (.pptx)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688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Montemagno</cp:lastModifiedBy>
  <cp:revision>2</cp:revision>
  <dcterms:created xsi:type="dcterms:W3CDTF">2013-01-27T09:14:16Z</dcterms:created>
  <dcterms:modified xsi:type="dcterms:W3CDTF">2026-03-25T15:29:50Z</dcterms:modified>
  <cp:category/>
</cp:coreProperties>
</file>